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64008" cy="68580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1280160"/>
            <a:ext cx="2560320" cy="2560320"/>
          </a:xfrm>
          <a:prstGeom prst="ellipse">
            <a:avLst/>
          </a:prstGeom>
          <a:solidFill>
            <a:srgbClr val="1B4332">
              <a:alpha val="50000"/>
            </a:srgbClr>
          </a:solidFill>
          <a:ln w="25400">
            <a:solidFill>
              <a:srgbClr val="C8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1737360"/>
            <a:ext cx="1645920" cy="1645920"/>
          </a:xfrm>
          <a:prstGeom prst="ellipse">
            <a:avLst/>
          </a:prstGeom>
          <a:solidFill>
            <a:srgbClr val="52B788">
              <a:alpha val="3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14630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7E4C7"/>
                </a:solidFill>
              </a:rPr>
              <a:t>COURSE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rgbClr val="B7E4C7"/>
                </a:solidFill>
              </a:rPr>
              <a:t>SOFTWARE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300" kern="0" dirty="0">
                <a:solidFill>
                  <a:srgbClr val="B7E4C7"/>
                </a:solidFill>
              </a:rPr>
              <a:t>REDESIGNED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8229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TEEAHEAD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94360" y="1801368"/>
            <a:ext cx="713232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tee sheet software that pays for itself.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Free for courses. Funded by golfers who love the game.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24028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108960"/>
            <a:ext cx="224028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barter — ever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3108960"/>
            <a:ext cx="224028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3108960"/>
            <a:ext cx="224028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108960" y="3840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to go 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0680" y="3108960"/>
            <a:ext cx="224028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3108960"/>
            <a:ext cx="2240280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246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532120" y="3840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cancel clause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1353312" cy="347472"/>
          </a:xfrm>
          <a:prstGeom prst="rect">
            <a:avLst/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7091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Tee Sheet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57400" y="4709160"/>
            <a:ext cx="1353312" cy="347472"/>
          </a:xfrm>
          <a:prstGeom prst="rect">
            <a:avLst/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47091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Online Booking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4709160"/>
            <a:ext cx="1353312" cy="347472"/>
          </a:xfrm>
          <a:prstGeom prst="rect">
            <a:avLst/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47091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Member Loyalty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4709160"/>
            <a:ext cx="1353312" cy="347472"/>
          </a:xfrm>
          <a:prstGeom prst="rect">
            <a:avLst/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7091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Barter Reports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46520" y="4709160"/>
            <a:ext cx="1353312" cy="347472"/>
          </a:xfrm>
          <a:prstGeom prst="rect">
            <a:avLst/>
          </a:prstGeom>
          <a:solidFill>
            <a:srgbClr val="0D2B1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7091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E4C7"/>
                </a:solidFill>
              </a:rPr>
              <a:t>Analytics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291072"/>
            <a:ext cx="12161520" cy="566928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</a:rPr>
              <a:t>teeahead.com  ·  Built for independent golf courses  ·  Metro Detroit &amp; Beyond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61520" cy="45720"/>
          </a:xfrm>
          <a:prstGeom prst="rect">
            <a:avLst/>
          </a:prstGeom>
          <a:solidFill>
            <a:srgbClr val="B7E4C7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GolfNow Is Really Costing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The barter model looks free on the surface. The numbers tell a different story.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365760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$37,000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Average annual barter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cost per course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NGCOA / ORCA study, ~400 courses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60020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600200"/>
            <a:ext cx="365760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8288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39.6%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443484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Of all rounds generated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zero revenue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3484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Brown Golf, 3-year internal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657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600200"/>
            <a:ext cx="365760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8288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80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Of barter tee times booked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during peak hours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GolfNow industry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1124712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21208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7E4C7"/>
                </a:solidFill>
              </a:rPr>
              <a:t>"Every time GolfNow books a barter tee time during your Saturday morning, you just worked for free."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Flipped the Model Completely.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4C7"/>
                </a:solidFill>
              </a:rPr>
              <a:t>GolfNow charges courses. TeeAhead charges golfers. That single change rewires everything.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303520" cy="4846320"/>
          </a:xfrm>
          <a:prstGeom prst="rect">
            <a:avLst/>
          </a:prstGeom>
          <a:solidFill>
            <a:srgbClr val="2A1515"/>
          </a:solidFill>
          <a:ln w="12700">
            <a:solidFill>
              <a:srgbClr val="7C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36192"/>
            <a:ext cx="5303520" cy="548640"/>
          </a:xfrm>
          <a:prstGeom prst="rect">
            <a:avLst/>
          </a:prstGeom>
          <a:solidFill>
            <a:srgbClr val="7C3A3A"/>
          </a:solidFill>
          <a:ln w="12700">
            <a:solidFill>
              <a:srgbClr val="7C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6362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FBF"/>
                </a:solidFill>
              </a:rPr>
              <a:t>GolfNow Takes From You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536192"/>
            <a:ext cx="5349240" cy="4846320"/>
          </a:xfrm>
          <a:prstGeom prst="rect">
            <a:avLst/>
          </a:prstGeom>
          <a:solidFill>
            <a:srgbClr val="152A1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536192"/>
            <a:ext cx="534924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63624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E4C7"/>
                </a:solidFill>
              </a:rPr>
              <a:t>TeeAhead Gives Back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04872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23317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0D0"/>
                </a:solidFill>
              </a:rPr>
              <a:t>Barter tee times at full green fee value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0815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0D0"/>
                </a:solidFill>
              </a:rPr>
              <a:t>$2.49–$3.49 convenience fee per golfer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904488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38313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0D0"/>
                </a:solidFill>
              </a:rPr>
              <a:t>Your course data sold to competitors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654296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458114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0D0"/>
                </a:solidFill>
              </a:rPr>
              <a:t>Peak-hour inventory they control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5404104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0D0"/>
                </a:solidFill>
              </a:rPr>
              <a:t>Multi-year contracts with penalties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2404872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$0 barter — your tee times stay yours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3154680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3081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$0 booking fees for your golfers, always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3904488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38313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Your data is yours. Always. Forever.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4654296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45811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You control every single tee time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83680" y="5404104"/>
            <a:ext cx="292608" cy="29260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5330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30-day cancel clause. No long-term contract.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733288" y="3474720"/>
            <a:ext cx="685800" cy="685800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33288" y="3474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Your Course Gets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</a:rPr>
              <a:t>Full-featured tee sheet + booking engine + member platform. Included.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89888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847088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9476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1481328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Tee Sheet &amp; Booking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216152" y="1956816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Real-time online booking with drag-and-drop tee sheet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0" y="1389888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1389888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847088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94767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83480" y="1481328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QR Code Check-In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983480" y="1956816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Mobile check-in for members and walk-ins at the course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82128" y="1389888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882128" y="1389888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65008" y="1847088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194767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50808" y="1481328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Member Management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750808" y="1956816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Full member profiles, booking history, and tier tracking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47472" y="3099816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47472" y="3099816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30352" y="3557016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6576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16152" y="3191256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5 Built-In Reports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216152" y="3666744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Revenue, rounds, members, waitlist, and barter cost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114800" y="3099816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114800" y="3099816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297680" y="3557016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365760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83480" y="3191256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Barter Cost Calculator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983480" y="3666744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Monthly PDF showing exactly what GolfNow would cost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882128" y="3099816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882128" y="3099816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065008" y="3557016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365760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750808" y="3191256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In-Round Service Requests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8750808" y="3666744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Golfers notify the pro shop from anywhere on the course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347472" y="4809744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347472" y="4809744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30352" y="5266944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5367528"/>
            <a:ext cx="365760" cy="36576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216152" y="4901184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Role-Based Staff Access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1216152" y="5376672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Owner, manager, and staff roles with custom permissions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4114800" y="4809744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114800" y="4809744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4297680" y="5266944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4" y="5367528"/>
            <a:ext cx="365760" cy="36576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983480" y="4901184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Stripe Payments Built-In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4983480" y="5376672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Direct payouts to your bank — no middleman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7882128" y="4809744"/>
            <a:ext cx="3611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7882128" y="4809744"/>
            <a:ext cx="64008" cy="1508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8065008" y="5266944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5592" y="5367528"/>
            <a:ext cx="365760" cy="36576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8750808" y="4901184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</a:rPr>
              <a:t>48-Hour Onboarding</a:t>
            </a:r>
            <a:endParaRPr lang="en-US" sz="1150" dirty="0"/>
          </a:p>
        </p:txBody>
      </p:sp>
      <p:sp>
        <p:nvSpPr>
          <p:cNvPr id="58" name="Text 47"/>
          <p:cNvSpPr/>
          <p:nvPr/>
        </p:nvSpPr>
        <p:spPr>
          <a:xfrm>
            <a:off x="8750808" y="5376672"/>
            <a:ext cx="2624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White-glove setup by our team — you're live in two days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Golfer Memberships Fund the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Golfers pay TeeAhead for their membership. You pay nothing for the software — and earn their loyalty.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367588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371600"/>
            <a:ext cx="3675888" cy="566928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4475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</a:rPr>
              <a:t>FAIRWAY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2029968"/>
            <a:ext cx="349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" y="297180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Always free to join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" y="3364992"/>
            <a:ext cx="3218688" cy="36576"/>
          </a:xfrm>
          <a:prstGeom prst="rect">
            <a:avLst/>
          </a:prstGeom>
          <a:solidFill>
            <a:srgbClr val="E2DDD6"/>
          </a:solidFill>
          <a:ln w="12700">
            <a:solidFill>
              <a:srgbClr val="E2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3602736"/>
            <a:ext cx="219456" cy="219456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87552" y="35204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Browse all partner courses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" y="4078224"/>
            <a:ext cx="219456" cy="219456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078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87552" y="399592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Book tee times online 24/7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4553712"/>
            <a:ext cx="219456" cy="219456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87552" y="4471416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Earn Fairway Points every round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" y="5029200"/>
            <a:ext cx="219456" cy="219456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029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87552" y="494690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Digital member card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" y="5504688"/>
            <a:ext cx="219456" cy="219456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504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87552" y="542239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3.5% booking fee applies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" y="5980176"/>
            <a:ext cx="219456" cy="219456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5980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87552" y="589788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Self-service account portal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42816" y="1371600"/>
            <a:ext cx="367588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42816" y="1371600"/>
            <a:ext cx="367588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144475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</a:rPr>
              <a:t>EAGLE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34256" y="2029968"/>
            <a:ext cx="349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$89/yr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4334256" y="297180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71416" y="3364992"/>
            <a:ext cx="3218688" cy="36576"/>
          </a:xfrm>
          <a:prstGeom prst="rect">
            <a:avLst/>
          </a:prstGeom>
          <a:solidFill>
            <a:srgbClr val="E2DDD6"/>
          </a:solidFill>
          <a:ln w="12700">
            <a:solidFill>
              <a:srgbClr val="E2DD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71416" y="3602736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91456" y="35204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$0 booking fees — always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71416" y="4078224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1416" y="4078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91456" y="399592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1.5x Fairway Points on every round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71416" y="4553712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71416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91456" y="4471416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 complimentary round per year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71416" y="5029200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71416" y="5029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91456" y="494690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 guest pass per year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71416" y="5504688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71416" y="5504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91456" y="542239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48-hr priority booking window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71416" y="5980176"/>
            <a:ext cx="219456" cy="21945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71416" y="5980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91456" y="589788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10% birthday credit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46720" y="1371600"/>
            <a:ext cx="3675888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46720" y="1371600"/>
            <a:ext cx="3675888" cy="56692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1444752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</a:rPr>
              <a:t>ACE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138160" y="2029968"/>
            <a:ext cx="349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$159/yr</a:t>
            </a:r>
            <a:endParaRPr lang="en-US" sz="3800" dirty="0"/>
          </a:p>
        </p:txBody>
      </p:sp>
      <p:sp>
        <p:nvSpPr>
          <p:cNvPr id="57" name="Text 55"/>
          <p:cNvSpPr/>
          <p:nvPr/>
        </p:nvSpPr>
        <p:spPr>
          <a:xfrm>
            <a:off x="8138160" y="297180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The full experience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275320" y="3364992"/>
            <a:ext cx="3218688" cy="36576"/>
          </a:xfrm>
          <a:prstGeom prst="rect">
            <a:avLst/>
          </a:prstGeom>
          <a:solidFill>
            <a:srgbClr val="E2DDD6"/>
          </a:solidFill>
          <a:ln w="12700">
            <a:solidFill>
              <a:srgbClr val="E2DD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75320" y="3602736"/>
            <a:ext cx="219456" cy="21945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75320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595360" y="352044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$0 booking fees — always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275320" y="4078224"/>
            <a:ext cx="219456" cy="21945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75320" y="40782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595360" y="399592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2x Fairway Points on every round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75320" y="4553712"/>
            <a:ext cx="219456" cy="21945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4553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595360" y="4471416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 complimentary rounds per year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275320" y="5029200"/>
            <a:ext cx="219456" cy="21945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75320" y="5029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595360" y="494690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 guest passes per year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275320" y="5504688"/>
            <a:ext cx="219456" cy="21945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5320" y="5504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595360" y="5422392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72-hr priority booking window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275320" y="5980176"/>
            <a:ext cx="219456" cy="219456"/>
          </a:xfrm>
          <a:prstGeom prst="ellipse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75320" y="5980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✓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595360" y="5897880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15% birthday credit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E4C7"/>
                </a:solidFill>
              </a:rPr>
              <a:t>TeeAhead keeps the membership fee  ·  Complimentary rounds are funded by the course  ·  You gain loyalty without losing cash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Courses That Made the Switch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What happens when courses stop giving away inventory — and start building real golfer loyalty.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120640" cy="484632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81328"/>
            <a:ext cx="512064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64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73A"/>
                </a:solidFill>
              </a:rPr>
              <a:t>WINDSOR PARKE G.C.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382%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40080" y="35478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7E4C7"/>
                </a:solidFill>
              </a:rPr>
              <a:t>online revenue lift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4050792"/>
            <a:ext cx="3657600" cy="45720"/>
          </a:xfrm>
          <a:prstGeom prst="rect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605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$81,000  →  $393,000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online revenue in one year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37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E4C7"/>
                </a:solidFill>
              </a:rPr>
              <a:t>After switching from GolfNow barter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B7E4C7"/>
                </a:solidFill>
              </a:rPr>
              <a:t>direct online booking.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5669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73A"/>
                </a:solidFill>
              </a:rPr>
              <a:t>Actual results. No barter rounds. Full-price bookings only.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81328"/>
            <a:ext cx="5532120" cy="22402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81328"/>
            <a:ext cx="553212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55064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7E4C7"/>
                </a:solidFill>
              </a:rPr>
              <a:t>MISSOURI BLUFFS G.C.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029968"/>
            <a:ext cx="2674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36.3%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09360" y="2852928"/>
            <a:ext cx="2674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E4C7"/>
                </a:solidFill>
              </a:rPr>
              <a:t>green fee increase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83980" y="2029968"/>
            <a:ext cx="2674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44.7%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983980" y="2852928"/>
            <a:ext cx="2674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E4C7"/>
                </a:solidFill>
              </a:rPr>
              <a:t>online revenue increase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904488"/>
            <a:ext cx="5532120" cy="2423160"/>
          </a:xfrm>
          <a:prstGeom prst="rect">
            <a:avLst/>
          </a:prstGeom>
          <a:solidFill>
            <a:srgbClr val="0D2B1F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3904488"/>
            <a:ext cx="5532120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404164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973A"/>
                </a:solidFill>
              </a:rPr>
              <a:t>WHY GOLFNOW CAN'T MATCH THIS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27648" y="4434840"/>
            <a:ext cx="5129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GolfNow cannot go free</a:t>
            </a:r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 — abandoning barter destroys their revenue model. Lightspeed and foreUP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cannot add consumer loyalty</a:t>
            </a:r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 without a company-level pivot. This is a </a:t>
            </a:r>
            <a:pPr indent="0" marL="0">
              <a:buNone/>
            </a:pPr>
            <a:r>
              <a:rPr lang="en-US" sz="1250" b="1" dirty="0">
                <a:solidFill>
                  <a:srgbClr val="C8973A"/>
                </a:solidFill>
              </a:rPr>
              <a:t>structural moat</a:t>
            </a:r>
            <a:pPr indent="0" marL="0">
              <a:buNone/>
            </a:pPr>
            <a:r>
              <a:rPr lang="en-US" sz="1250" dirty="0">
                <a:solidFill>
                  <a:srgbClr val="B7E4C7"/>
                </a:solidFill>
              </a:rPr>
              <a:t> — not just a feature advantage.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0" y="0"/>
            <a:ext cx="73152" cy="68580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206240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0"/>
            <a:ext cx="4434840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16352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411480" y="370332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7E4C7"/>
                </a:solidFill>
              </a:rPr>
              <a:t>for your first 12 months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4622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7E4C7"/>
                </a:solidFill>
              </a:rPr>
              <a:t>Then $349/mo (standard rate)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48920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Only 10 founding partner spots available.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5376672"/>
            <a:ext cx="3429000" cy="5943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537667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Apply at teeahead.com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74320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Courses Say Yes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0" y="9144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We removed every reason to hesitate.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1417320"/>
            <a:ext cx="6217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417320"/>
            <a:ext cx="82296" cy="11430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5087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48-Hour White-Glove Setup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191109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Our team handles everything. You're live and taking bookings in two business days.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679192"/>
            <a:ext cx="6217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2679192"/>
            <a:ext cx="82296" cy="11430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7706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30-Day Cancel Clause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317296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Not satisfied after 30 days? Cancel with zero penalties — no questions asked.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3941064"/>
            <a:ext cx="6217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3941064"/>
            <a:ext cx="82296" cy="11430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40325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No Long-Term Contract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44348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Month-to-month. You stay because TeeAhead works, not because a contract says so.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5202936"/>
            <a:ext cx="6217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5202936"/>
            <a:ext cx="82296" cy="11430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52943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Zero Revenue Extraction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15000" y="56967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 barter, no commissions, no booking fees. What you earn, you keep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2487168"/>
            <a:ext cx="8138160" cy="6400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77724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stop funding GolfNow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start building real loyalty?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7E4C7"/>
                </a:solidFill>
              </a:rPr>
              <a:t>Apply for a Founding Partner spot today.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3383280"/>
            <a:ext cx="3657600" cy="71323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33832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teeahead.com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57400" y="43891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57400" y="5120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barter, ever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43891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92040" y="5120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to go live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43891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726680" y="5120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E4C7"/>
                </a:solidFill>
              </a:rPr>
              <a:t>cancel clause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30368" y="468172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468172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2B1F"/>
          </a:solidFill>
          <a:ln w="12700">
            <a:solidFill>
              <a:srgbClr val="0D2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34593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B7E4C7"/>
                </a:solidFill>
              </a:rPr>
              <a:t>TEEAHEAD  ·  Free for golf courses. Funded by golfers.  ·  teeahead.com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TeeAhead – Course Marketing Deck</dc:title>
  <dc:subject>PptxGenJS Presentation</dc:subject>
  <dc:creator>TeeAhead</dc:creator>
  <cp:lastModifiedBy>TeeAhead</cp:lastModifiedBy>
  <cp:revision>1</cp:revision>
  <dcterms:created xsi:type="dcterms:W3CDTF">2026-05-03T13:34:23Z</dcterms:created>
  <dcterms:modified xsi:type="dcterms:W3CDTF">2026-05-03T13:34:23Z</dcterms:modified>
</cp:coreProperties>
</file>